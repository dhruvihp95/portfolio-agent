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60" r:id="rId4"/>
    <p:sldId id="261" r:id="rId5"/>
    <p:sldId id="263" r:id="rId6"/>
    <p:sldId id="264" r:id="rId7"/>
    <p:sldId id="265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833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ruvi Pandya" userId="89edfcb87fa62997" providerId="LiveId" clId="{9EEB3621-609A-4435-8017-8BA7F0136AE2}"/>
    <pc:docChg chg="undo custSel modSld">
      <pc:chgData name="Dhruvi Pandya" userId="89edfcb87fa62997" providerId="LiveId" clId="{9EEB3621-609A-4435-8017-8BA7F0136AE2}" dt="2026-02-26T15:40:08.807" v="95" actId="1076"/>
      <pc:docMkLst>
        <pc:docMk/>
      </pc:docMkLst>
      <pc:sldChg chg="modSp mod">
        <pc:chgData name="Dhruvi Pandya" userId="89edfcb87fa62997" providerId="LiveId" clId="{9EEB3621-609A-4435-8017-8BA7F0136AE2}" dt="2026-02-26T15:40:08.807" v="95" actId="1076"/>
        <pc:sldMkLst>
          <pc:docMk/>
          <pc:sldMk cId="0" sldId="256"/>
        </pc:sldMkLst>
        <pc:spChg chg="mod">
          <ac:chgData name="Dhruvi Pandya" userId="89edfcb87fa62997" providerId="LiveId" clId="{9EEB3621-609A-4435-8017-8BA7F0136AE2}" dt="2026-02-26T15:32:26.869" v="37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Dhruvi Pandya" userId="89edfcb87fa62997" providerId="LiveId" clId="{9EEB3621-609A-4435-8017-8BA7F0136AE2}" dt="2026-02-26T15:31:26.019" v="22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Dhruvi Pandya" userId="89edfcb87fa62997" providerId="LiveId" clId="{9EEB3621-609A-4435-8017-8BA7F0136AE2}" dt="2026-02-26T15:40:04.234" v="94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Dhruvi Pandya" userId="89edfcb87fa62997" providerId="LiveId" clId="{9EEB3621-609A-4435-8017-8BA7F0136AE2}" dt="2026-02-26T15:40:08.807" v="95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Dhruvi Pandya" userId="89edfcb87fa62997" providerId="LiveId" clId="{9EEB3621-609A-4435-8017-8BA7F0136AE2}" dt="2026-02-26T15:31:48.721" v="26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Dhruvi Pandya" userId="89edfcb87fa62997" providerId="LiveId" clId="{9EEB3621-609A-4435-8017-8BA7F0136AE2}" dt="2026-02-26T15:32:14.133" v="33" actId="255"/>
          <ac:spMkLst>
            <pc:docMk/>
            <pc:sldMk cId="0" sldId="256"/>
            <ac:spMk id="16" creationId="{00000000-0000-0000-0000-000000000000}"/>
          </ac:spMkLst>
        </pc:spChg>
        <pc:spChg chg="mod">
          <ac:chgData name="Dhruvi Pandya" userId="89edfcb87fa62997" providerId="LiveId" clId="{9EEB3621-609A-4435-8017-8BA7F0136AE2}" dt="2026-02-26T15:39:52.990" v="92" actId="107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Dhruvi Pandya" userId="89edfcb87fa62997" providerId="LiveId" clId="{9EEB3621-609A-4435-8017-8BA7F0136AE2}" dt="2026-02-26T15:33:13.704" v="45" actId="122"/>
          <ac:spMkLst>
            <pc:docMk/>
            <pc:sldMk cId="0" sldId="256"/>
            <ac:spMk id="18" creationId="{00000000-0000-0000-0000-000000000000}"/>
          </ac:spMkLst>
        </pc:spChg>
      </pc:sldChg>
      <pc:sldChg chg="addSp delSp modSp mod">
        <pc:chgData name="Dhruvi Pandya" userId="89edfcb87fa62997" providerId="LiveId" clId="{9EEB3621-609A-4435-8017-8BA7F0136AE2}" dt="2026-02-26T15:31:12.974" v="21" actId="14100"/>
        <pc:sldMkLst>
          <pc:docMk/>
          <pc:sldMk cId="0" sldId="260"/>
        </pc:sldMkLst>
        <pc:spChg chg="add del">
          <ac:chgData name="Dhruvi Pandya" userId="89edfcb87fa62997" providerId="LiveId" clId="{9EEB3621-609A-4435-8017-8BA7F0136AE2}" dt="2026-02-26T15:30:58.731" v="18" actId="478"/>
          <ac:spMkLst>
            <pc:docMk/>
            <pc:sldMk cId="0" sldId="260"/>
            <ac:spMk id="4" creationId="{00000000-0000-0000-0000-000000000000}"/>
          </ac:spMkLst>
        </pc:spChg>
        <pc:spChg chg="del mod">
          <ac:chgData name="Dhruvi Pandya" userId="89edfcb87fa62997" providerId="LiveId" clId="{9EEB3621-609A-4435-8017-8BA7F0136AE2}" dt="2026-02-26T15:30:47.377" v="16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Dhruvi Pandya" userId="89edfcb87fa62997" providerId="LiveId" clId="{9EEB3621-609A-4435-8017-8BA7F0136AE2}" dt="2026-02-26T15:30:15.177" v="6" actId="478"/>
          <ac:spMkLst>
            <pc:docMk/>
            <pc:sldMk cId="0" sldId="260"/>
            <ac:spMk id="32" creationId="{00000000-0000-0000-0000-000000000000}"/>
          </ac:spMkLst>
        </pc:spChg>
        <pc:spChg chg="del">
          <ac:chgData name="Dhruvi Pandya" userId="89edfcb87fa62997" providerId="LiveId" clId="{9EEB3621-609A-4435-8017-8BA7F0136AE2}" dt="2026-02-26T15:30:17.063" v="7" actId="478"/>
          <ac:spMkLst>
            <pc:docMk/>
            <pc:sldMk cId="0" sldId="260"/>
            <ac:spMk id="33" creationId="{00000000-0000-0000-0000-000000000000}"/>
          </ac:spMkLst>
        </pc:spChg>
        <pc:spChg chg="del">
          <ac:chgData name="Dhruvi Pandya" userId="89edfcb87fa62997" providerId="LiveId" clId="{9EEB3621-609A-4435-8017-8BA7F0136AE2}" dt="2026-02-26T15:30:36.318" v="11" actId="478"/>
          <ac:spMkLst>
            <pc:docMk/>
            <pc:sldMk cId="0" sldId="260"/>
            <ac:spMk id="34" creationId="{00000000-0000-0000-0000-000000000000}"/>
          </ac:spMkLst>
        </pc:spChg>
        <pc:spChg chg="del">
          <ac:chgData name="Dhruvi Pandya" userId="89edfcb87fa62997" providerId="LiveId" clId="{9EEB3621-609A-4435-8017-8BA7F0136AE2}" dt="2026-02-26T15:30:00.228" v="1" actId="478"/>
          <ac:spMkLst>
            <pc:docMk/>
            <pc:sldMk cId="0" sldId="260"/>
            <ac:spMk id="35" creationId="{00000000-0000-0000-0000-000000000000}"/>
          </ac:spMkLst>
        </pc:spChg>
        <pc:spChg chg="del mod">
          <ac:chgData name="Dhruvi Pandya" userId="89edfcb87fa62997" providerId="LiveId" clId="{9EEB3621-609A-4435-8017-8BA7F0136AE2}" dt="2026-02-26T15:30:08.829" v="3" actId="478"/>
          <ac:spMkLst>
            <pc:docMk/>
            <pc:sldMk cId="0" sldId="260"/>
            <ac:spMk id="36" creationId="{00000000-0000-0000-0000-000000000000}"/>
          </ac:spMkLst>
        </pc:spChg>
        <pc:spChg chg="del">
          <ac:chgData name="Dhruvi Pandya" userId="89edfcb87fa62997" providerId="LiveId" clId="{9EEB3621-609A-4435-8017-8BA7F0136AE2}" dt="2026-02-26T15:30:10.475" v="4" actId="478"/>
          <ac:spMkLst>
            <pc:docMk/>
            <pc:sldMk cId="0" sldId="260"/>
            <ac:spMk id="37" creationId="{00000000-0000-0000-0000-000000000000}"/>
          </ac:spMkLst>
        </pc:spChg>
        <pc:spChg chg="del">
          <ac:chgData name="Dhruvi Pandya" userId="89edfcb87fa62997" providerId="LiveId" clId="{9EEB3621-609A-4435-8017-8BA7F0136AE2}" dt="2026-02-26T15:30:12.430" v="5" actId="478"/>
          <ac:spMkLst>
            <pc:docMk/>
            <pc:sldMk cId="0" sldId="260"/>
            <ac:spMk id="38" creationId="{00000000-0000-0000-0000-000000000000}"/>
          </ac:spMkLst>
        </pc:spChg>
        <pc:spChg chg="del">
          <ac:chgData name="Dhruvi Pandya" userId="89edfcb87fa62997" providerId="LiveId" clId="{9EEB3621-609A-4435-8017-8BA7F0136AE2}" dt="2026-02-26T15:30:19.640" v="8" actId="478"/>
          <ac:spMkLst>
            <pc:docMk/>
            <pc:sldMk cId="0" sldId="260"/>
            <ac:spMk id="40" creationId="{00000000-0000-0000-0000-000000000000}"/>
          </ac:spMkLst>
        </pc:spChg>
        <pc:spChg chg="del">
          <ac:chgData name="Dhruvi Pandya" userId="89edfcb87fa62997" providerId="LiveId" clId="{9EEB3621-609A-4435-8017-8BA7F0136AE2}" dt="2026-02-26T15:30:31.310" v="9" actId="478"/>
          <ac:spMkLst>
            <pc:docMk/>
            <pc:sldMk cId="0" sldId="260"/>
            <ac:spMk id="41" creationId="{00000000-0000-0000-0000-000000000000}"/>
          </ac:spMkLst>
        </pc:spChg>
        <pc:spChg chg="del">
          <ac:chgData name="Dhruvi Pandya" userId="89edfcb87fa62997" providerId="LiveId" clId="{9EEB3621-609A-4435-8017-8BA7F0136AE2}" dt="2026-02-26T15:30:33.310" v="10" actId="478"/>
          <ac:spMkLst>
            <pc:docMk/>
            <pc:sldMk cId="0" sldId="260"/>
            <ac:spMk id="42" creationId="{00000000-0000-0000-0000-000000000000}"/>
          </ac:spMkLst>
        </pc:spChg>
        <pc:spChg chg="del">
          <ac:chgData name="Dhruvi Pandya" userId="89edfcb87fa62997" providerId="LiveId" clId="{9EEB3621-609A-4435-8017-8BA7F0136AE2}" dt="2026-02-26T15:30:39.388" v="13" actId="478"/>
          <ac:spMkLst>
            <pc:docMk/>
            <pc:sldMk cId="0" sldId="260"/>
            <ac:spMk id="44" creationId="{00000000-0000-0000-0000-000000000000}"/>
          </ac:spMkLst>
        </pc:spChg>
        <pc:spChg chg="del">
          <ac:chgData name="Dhruvi Pandya" userId="89edfcb87fa62997" providerId="LiveId" clId="{9EEB3621-609A-4435-8017-8BA7F0136AE2}" dt="2026-02-26T15:30:37.483" v="12" actId="478"/>
          <ac:spMkLst>
            <pc:docMk/>
            <pc:sldMk cId="0" sldId="260"/>
            <ac:spMk id="45" creationId="{00000000-0000-0000-0000-000000000000}"/>
          </ac:spMkLst>
        </pc:spChg>
        <pc:spChg chg="del">
          <ac:chgData name="Dhruvi Pandya" userId="89edfcb87fa62997" providerId="LiveId" clId="{9EEB3621-609A-4435-8017-8BA7F0136AE2}" dt="2026-02-26T15:30:40.570" v="14" actId="478"/>
          <ac:spMkLst>
            <pc:docMk/>
            <pc:sldMk cId="0" sldId="260"/>
            <ac:spMk id="46" creationId="{00000000-0000-0000-0000-000000000000}"/>
          </ac:spMkLst>
        </pc:spChg>
        <pc:spChg chg="del">
          <ac:chgData name="Dhruvi Pandya" userId="89edfcb87fa62997" providerId="LiveId" clId="{9EEB3621-609A-4435-8017-8BA7F0136AE2}" dt="2026-02-26T15:30:00.228" v="1" actId="478"/>
          <ac:spMkLst>
            <pc:docMk/>
            <pc:sldMk cId="0" sldId="260"/>
            <ac:spMk id="50" creationId="{2A36C6F9-CF92-6E58-3146-D94C24B93A03}"/>
          </ac:spMkLst>
        </pc:spChg>
        <pc:spChg chg="del">
          <ac:chgData name="Dhruvi Pandya" userId="89edfcb87fa62997" providerId="LiveId" clId="{9EEB3621-609A-4435-8017-8BA7F0136AE2}" dt="2026-02-26T15:30:00.228" v="1" actId="478"/>
          <ac:spMkLst>
            <pc:docMk/>
            <pc:sldMk cId="0" sldId="260"/>
            <ac:spMk id="51" creationId="{527229A7-AAEB-4FB4-48F9-4A89B9A55EF9}"/>
          </ac:spMkLst>
        </pc:spChg>
        <pc:picChg chg="add mod">
          <ac:chgData name="Dhruvi Pandya" userId="89edfcb87fa62997" providerId="LiveId" clId="{9EEB3621-609A-4435-8017-8BA7F0136AE2}" dt="2026-02-26T15:31:12.974" v="21" actId="14100"/>
          <ac:picMkLst>
            <pc:docMk/>
            <pc:sldMk cId="0" sldId="260"/>
            <ac:picMk id="7" creationId="{BBD05FCC-23C8-0F41-521D-11B881F47753}"/>
          </ac:picMkLst>
        </pc:picChg>
        <pc:picChg chg="del">
          <ac:chgData name="Dhruvi Pandya" userId="89edfcb87fa62997" providerId="LiveId" clId="{9EEB3621-609A-4435-8017-8BA7F0136AE2}" dt="2026-02-26T15:29:51.973" v="0" actId="478"/>
          <ac:picMkLst>
            <pc:docMk/>
            <pc:sldMk cId="0" sldId="260"/>
            <ac:picMk id="53" creationId="{A8F02999-3C5C-23A3-0AC0-6394BBF8C2F2}"/>
          </ac:picMkLst>
        </pc:picChg>
      </pc:sldChg>
      <pc:sldChg chg="modSp mod">
        <pc:chgData name="Dhruvi Pandya" userId="89edfcb87fa62997" providerId="LiveId" clId="{9EEB3621-609A-4435-8017-8BA7F0136AE2}" dt="2026-02-26T15:39:23.788" v="70" actId="20577"/>
        <pc:sldMkLst>
          <pc:docMk/>
          <pc:sldMk cId="0" sldId="265"/>
        </pc:sldMkLst>
        <pc:spChg chg="mod">
          <ac:chgData name="Dhruvi Pandya" userId="89edfcb87fa62997" providerId="LiveId" clId="{9EEB3621-609A-4435-8017-8BA7F0136AE2}" dt="2026-02-26T15:39:23.788" v="70" actId="20577"/>
          <ac:spMkLst>
            <pc:docMk/>
            <pc:sldMk cId="0" sldId="265"/>
            <ac:spMk id="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7133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4814" y="-77100"/>
            <a:ext cx="9098280" cy="50977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420793" y="32004"/>
            <a:ext cx="54864" cy="50977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78609" y="939545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Aste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4027517" y="952014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</a:t>
            </a:r>
            <a:endParaRPr lang="en-US" sz="5600" dirty="0"/>
          </a:p>
        </p:txBody>
      </p:sp>
      <p:sp>
        <p:nvSpPr>
          <p:cNvPr id="15" name="Shape 13"/>
          <p:cNvSpPr/>
          <p:nvPr/>
        </p:nvSpPr>
        <p:spPr>
          <a:xfrm>
            <a:off x="2884517" y="1783080"/>
            <a:ext cx="22860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6829" y="1910679"/>
            <a:ext cx="6932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Financial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Contagion Risk Simulator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352502" y="2711196"/>
            <a:ext cx="3882044" cy="351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DTCC Industry-Powered  AI Hackathon  ·  2026</a:t>
            </a:r>
          </a:p>
          <a:p>
            <a:pPr algn="ctr"/>
            <a:r>
              <a:rPr lang="en-US" sz="1600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- Generative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</a:p>
        </p:txBody>
      </p:sp>
      <p:sp>
        <p:nvSpPr>
          <p:cNvPr id="18" name="Text 16"/>
          <p:cNvSpPr/>
          <p:nvPr/>
        </p:nvSpPr>
        <p:spPr>
          <a:xfrm>
            <a:off x="120535" y="3850871"/>
            <a:ext cx="78679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7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Arunava Roy  ·  Atif Hussain  ·  Sibananda Patnaik  ·  Dhruvi Pandya</a:t>
            </a:r>
            <a:r>
              <a:rPr lang="en-US" dirty="0"/>
              <a:t> </a:t>
            </a:r>
            <a:r>
              <a:rPr lang="en-US" dirty="0">
                <a:solidFill>
                  <a:srgbClr val="7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dirty="0"/>
              <a:t> </a:t>
            </a:r>
            <a:r>
              <a:rPr lang="en-US" dirty="0">
                <a:solidFill>
                  <a:srgbClr val="7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Femi Javia  ·  Harshit Sharma  ·  Pulkit Rajpal  ·  Thorfinn Manison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AsteRISK  |  DTCC Gen AI Hackathon 2026  |  Confidential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5129784"/>
            <a:ext cx="9144000" cy="1371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54864" cy="4572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Solution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765187"/>
            <a:ext cx="8503920" cy="594360"/>
          </a:xfrm>
          <a:prstGeom prst="rect">
            <a:avLst/>
          </a:prstGeom>
          <a:solidFill>
            <a:srgbClr val="EBF0F8"/>
          </a:solidFill>
          <a:ln w="9525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74904" y="76518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/>
              <a:t> </a:t>
            </a:r>
            <a:r>
              <a:rPr lang="en-US" i="1" dirty="0"/>
              <a:t>If a sector or set of counterparties enters distress today, where does the cascade go, how far does it reach, and how fast?</a:t>
            </a:r>
            <a:r>
              <a:rPr lang="en-US" dirty="0"/>
              <a:t>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27432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4A608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783080"/>
            <a:ext cx="274320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0292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Interpretation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926080"/>
            <a:ext cx="2194560" cy="2743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01752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translates analyst natural-language queries into structured simulation parameters.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46120" y="1783080"/>
            <a:ext cx="27432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4A608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46120" y="1783080"/>
            <a:ext cx="274320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29000" y="1920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42900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Contagion Engine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29000" y="2926080"/>
            <a:ext cx="2194560" cy="2743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29000" y="301752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SIR-based model with correlation-weighted S&amp;P 500 financial network mirrors real market structure.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1783080"/>
            <a:ext cx="27432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4A608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72200" y="1783080"/>
            <a:ext cx="2743200" cy="54864"/>
          </a:xfrm>
          <a:prstGeom prst="rect">
            <a:avLst/>
          </a:prstGeom>
          <a:solidFill>
            <a:srgbClr val="5B3E8A"/>
          </a:solidFill>
          <a:ln w="12700">
            <a:solidFill>
              <a:srgbClr val="5B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55080" y="1920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3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35508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55080" y="2926080"/>
            <a:ext cx="2194560" cy="27432"/>
          </a:xfrm>
          <a:prstGeom prst="rect">
            <a:avLst/>
          </a:prstGeom>
          <a:solidFill>
            <a:srgbClr val="5B3E8A"/>
          </a:solidFill>
          <a:ln w="12700">
            <a:solidFill>
              <a:srgbClr val="5B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55080" y="301752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D3.js visualization renders contagion cascades in real time with multi-factor risk scoring.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063240" y="3063240"/>
            <a:ext cx="201168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27832" y="302666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860B"/>
                </a:solidFill>
              </a:rPr>
              <a:t>▶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89320" y="3063240"/>
            <a:ext cx="201168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53912" y="302666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860B"/>
                </a:solidFill>
              </a:rPr>
              <a:t>▶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AsteRISK  |  DTCC Gen AI Hackathon 2026  |  Confidential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5129784"/>
            <a:ext cx="9144000" cy="1371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0BA1AC-4673-91A6-4643-80396705CCFB}"/>
              </a:ext>
            </a:extLst>
          </p:cNvPr>
          <p:cNvSpPr txBox="1"/>
          <p:nvPr/>
        </p:nvSpPr>
        <p:spPr>
          <a:xfrm>
            <a:off x="203662" y="1395337"/>
            <a:ext cx="4580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54864" cy="4572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Tech Stack</a:t>
            </a:r>
            <a:endParaRPr lang="en-US" sz="2600" dirty="0"/>
          </a:p>
        </p:txBody>
      </p:sp>
      <p:sp>
        <p:nvSpPr>
          <p:cNvPr id="47" name="Shape 4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AsteRISK  |  DTCC Gen AI Hackathon 2026  |  Confidential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0" y="5129784"/>
            <a:ext cx="9144000" cy="1371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D05FCC-23C8-0F41-521D-11B881F47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05" y="723886"/>
            <a:ext cx="8921533" cy="41307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54864" cy="4572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Model Performance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market structure, validated simulation mechanics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38404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4A608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S&amp;P 500 Tickers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645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1-year historical prices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176272"/>
            <a:ext cx="38404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4A608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221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2219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Matrix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4963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returns, |corr| ≥ 0.6 threshold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026664"/>
            <a:ext cx="38404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4A608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072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30723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Multi-Factor Scoring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3467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· volume · sentiment signals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877056"/>
            <a:ext cx="38404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4A608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922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39227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LLM-Only for NLU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41970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used only for natural language parsing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43400" y="1005840"/>
            <a:ext cx="27432" cy="3749040"/>
          </a:xfrm>
          <a:prstGeom prst="rect">
            <a:avLst/>
          </a:prstGeom>
          <a:solidFill>
            <a:srgbClr val="D0DCF0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80560" y="1005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RESULTS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80560" y="1325880"/>
            <a:ext cx="42976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4A608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480560" y="1325880"/>
            <a:ext cx="54864" cy="7498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45152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Multi-Step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45152" y="1664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Contagion Snapshots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480560" y="2176272"/>
            <a:ext cx="42976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4A608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480560" y="2176272"/>
            <a:ext cx="54864" cy="74980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45152" y="2221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Intra-Sector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645152" y="2514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→ Rapid Cluster Spread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480560" y="3026664"/>
            <a:ext cx="42976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4A608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480560" y="3026664"/>
            <a:ext cx="54864" cy="749808"/>
          </a:xfrm>
          <a:prstGeom prst="rect">
            <a:avLst/>
          </a:prstGeom>
          <a:solidFill>
            <a:srgbClr val="5B3E8A"/>
          </a:solidFill>
          <a:ln w="12700">
            <a:solidFill>
              <a:srgbClr val="5B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45152" y="30723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Firewall Effect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45152" y="3364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threshold blocks propagation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480560" y="3877056"/>
            <a:ext cx="42976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4A608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480560" y="3877056"/>
            <a:ext cx="54864" cy="7498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645152" y="39227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30+ Test Cases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645152" y="4215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validates all simulation mechanics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AsteRISK  |  DTCC Gen AI Hackathon 2026  |  Confidential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5129784"/>
            <a:ext cx="9144000" cy="1371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54864" cy="4572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Limitations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constraints and paths to resolution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4A608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64008" cy="1097280"/>
          </a:xfrm>
          <a:prstGeom prst="rect">
            <a:avLst/>
          </a:prstGeom>
          <a:solidFill>
            <a:srgbClr val="C46A00"/>
          </a:solidFill>
          <a:ln w="12700">
            <a:solidFill>
              <a:srgbClr val="C4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11430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≠ Causation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132320" y="1161288"/>
            <a:ext cx="1463040" cy="310896"/>
          </a:xfrm>
          <a:prstGeom prst="rect">
            <a:avLst/>
          </a:prstGeom>
          <a:solidFill>
            <a:srgbClr val="C46A00"/>
          </a:solidFill>
          <a:ln w="12700">
            <a:solidFill>
              <a:srgbClr val="C4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32320" y="116128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milestone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" y="1554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data would significantly improve accuracy. Correlation is a proxy — direct clearing exposure integration is the next step.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286000"/>
            <a:ext cx="85039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4A608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28600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23774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SIR Simplification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32320" y="2395728"/>
            <a:ext cx="1463040" cy="3108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0" y="239572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" y="2788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SIR model simplifies real financial contagion dynamics. Advanced epidemiological models (SEIR, agent-based) can be layered in.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520440"/>
            <a:ext cx="85039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4A608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3520440"/>
            <a:ext cx="64008" cy="10972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0352" y="36118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Scope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132320" y="3630168"/>
            <a:ext cx="1463040" cy="31089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32320" y="36301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dataset limited to 25 S&amp;P 500 tickers. Architecture is designed to scale to the full index with minimal refactoring.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AsteRISK  |  DTCC Gen AI Hackathon 2026  |  Confidential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5129784"/>
            <a:ext cx="9144000" cy="1371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-152123"/>
            <a:ext cx="9144000" cy="50977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IMPACT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064924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</a:t>
            </a:r>
            <a:r>
              <a:rPr lang="en-US" sz="3800" dirty="0"/>
              <a:t> </a:t>
            </a: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Predictive</a:t>
            </a:r>
            <a:r>
              <a:rPr lang="en-US" sz="3800" dirty="0"/>
              <a:t> </a:t>
            </a: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65760" y="2523744"/>
            <a:ext cx="22860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AsteRISK  |  DTCC Gen AI Hackathon 2026  |  Confidential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5129784"/>
            <a:ext cx="9144000" cy="1371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7CB25C-ACBC-9CD0-E55F-D8C7CDDEFB00}"/>
              </a:ext>
            </a:extLst>
          </p:cNvPr>
          <p:cNvSpPr txBox="1"/>
          <p:nvPr/>
        </p:nvSpPr>
        <p:spPr>
          <a:xfrm>
            <a:off x="182880" y="2744447"/>
            <a:ext cx="8695113" cy="1900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AI-driven scenario interpretation + deterministic contagion modeling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 market data + interactive visualization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Helps risk managers see systemic risk before it spreads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web-app deployed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r>
              <a:rPr lang="en-US" sz="1600" dirty="0"/>
              <a:t> </a:t>
            </a:r>
            <a:r>
              <a:rPr lang="en-US" sz="1600" dirty="0" err="1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Replit</a:t>
            </a:r>
            <a:endParaRPr lang="en-US" sz="1600" dirty="0">
              <a:solidFill>
                <a:srgbClr val="A8C0E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design with stateless </a:t>
            </a:r>
            <a:r>
              <a:rPr lang="en-US" sz="1600" dirty="0" err="1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r>
              <a:rPr lang="en-US" sz="16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enables horizontal auto-scaling with zero re-architecture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2004"/>
            <a:ext cx="9144000" cy="640080"/>
          </a:xfrm>
          <a:prstGeom prst="rect">
            <a:avLst/>
          </a:prstGeom>
          <a:solidFill>
            <a:srgbClr val="1E3256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2084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1312164"/>
            <a:ext cx="9144000" cy="640080"/>
          </a:xfrm>
          <a:prstGeom prst="rect">
            <a:avLst/>
          </a:prstGeom>
          <a:solidFill>
            <a:srgbClr val="1E3256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952244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2592324"/>
            <a:ext cx="9144000" cy="640080"/>
          </a:xfrm>
          <a:prstGeom prst="rect">
            <a:avLst/>
          </a:prstGeom>
          <a:solidFill>
            <a:srgbClr val="1E3256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3232404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3872484"/>
            <a:ext cx="9144000" cy="640080"/>
          </a:xfrm>
          <a:prstGeom prst="rect">
            <a:avLst/>
          </a:prstGeom>
          <a:solidFill>
            <a:srgbClr val="1E3256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4512564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AsteRISK</a:t>
            </a:r>
            <a:endParaRPr lang="en-US" sz="6400" dirty="0"/>
          </a:p>
        </p:txBody>
      </p:sp>
      <p:sp>
        <p:nvSpPr>
          <p:cNvPr id="12" name="Shape 10"/>
          <p:cNvSpPr/>
          <p:nvPr/>
        </p:nvSpPr>
        <p:spPr>
          <a:xfrm>
            <a:off x="3200400" y="1737360"/>
            <a:ext cx="274320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BC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440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DTCC Industry-Powered  AI Hackathon 2026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Arunava Roy  ·  Atif Hussain  ·  Sibananda Patnaik  ·  Dhruvi Pandya  ·  Femi Javia  ·  Harshit Sharma  ·  Pulkit Rajpal  ·  Thorfinn Manison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71600" y="3657600"/>
            <a:ext cx="6400800" cy="822960"/>
          </a:xfrm>
          <a:prstGeom prst="rect">
            <a:avLst/>
          </a:prstGeom>
          <a:solidFill>
            <a:srgbClr val="243558"/>
          </a:solidFill>
          <a:ln w="9525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4A608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371600" y="3657600"/>
            <a:ext cx="640080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463040" y="3767328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0E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Transforming stress testing from manual craft to AI-powered, real-time intelligence.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AsteRISK  |  DTCC Gen AI Hackathon 2026  |  Confidential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5129784"/>
            <a:ext cx="9144000" cy="1371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54864" cy="4572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to Production &amp; Scalability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architecture designed to grow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353312"/>
            <a:ext cx="3931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4A608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399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" y="1353312"/>
            <a:ext cx="54864" cy="74980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1426464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AWS Bedrock AgentCore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203704"/>
            <a:ext cx="3931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4A608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249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0040" y="2203704"/>
            <a:ext cx="54864" cy="7498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2276856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DTCC clearing exposure 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054096"/>
            <a:ext cx="3931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4A608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🕸️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20040" y="3054096"/>
            <a:ext cx="54864" cy="749808"/>
          </a:xfrm>
          <a:prstGeom prst="rect">
            <a:avLst/>
          </a:prstGeom>
          <a:solidFill>
            <a:srgbClr val="5B3E8A"/>
          </a:solidFill>
          <a:ln w="12700">
            <a:solidFill>
              <a:srgbClr val="5B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312724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full 6-node LangGraph pipeline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904488"/>
            <a:ext cx="3931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4A608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8912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20040" y="3904488"/>
            <a:ext cx="54864" cy="749808"/>
          </a:xfrm>
          <a:prstGeom prst="rect">
            <a:avLst/>
          </a:prstGeom>
          <a:solidFill>
            <a:srgbClr val="C46A00"/>
          </a:solidFill>
          <a:ln w="12700">
            <a:solidFill>
              <a:srgbClr val="C4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39776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WebSocket streaming for real-time dashboards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70832" y="1005840"/>
            <a:ext cx="27432" cy="3749040"/>
          </a:xfrm>
          <a:prstGeom prst="rect">
            <a:avLst/>
          </a:prstGeom>
          <a:solidFill>
            <a:srgbClr val="D0DCF0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80560" y="1005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80560" y="1353312"/>
            <a:ext cx="42976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4A608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480560" y="1353312"/>
            <a:ext cx="54864" cy="107899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45152" y="138988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7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⟷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166360" y="13898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Stateless LangGraph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45152" y="17830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design enables horizontal auto-scaling with zero re-architecture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80560" y="2542032"/>
            <a:ext cx="42976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4A608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480560" y="2542032"/>
            <a:ext cx="54864" cy="107899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45152" y="25786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∑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166360" y="25786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Extendable Correlation Matrix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645152" y="297180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 simulation and correlation matrix are O(n²) – manageable growth to 500 tickers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480560" y="3730752"/>
            <a:ext cx="42976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4A608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480560" y="3730752"/>
            <a:ext cx="54864" cy="1078992"/>
          </a:xfrm>
          <a:prstGeom prst="rect">
            <a:avLst/>
          </a:prstGeom>
          <a:solidFill>
            <a:srgbClr val="5B3E8A"/>
          </a:solidFill>
          <a:ln w="12700">
            <a:solidFill>
              <a:srgbClr val="5B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45152" y="37673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B3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5166360" y="3767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Scaling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645152" y="416052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and deterministic engine scale independently — cost-efficient growth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AsteRISK  |  DTCC Gen AI Hackathon 2026  |  Confidential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5129784"/>
            <a:ext cx="9144000" cy="1371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556</Words>
  <Application>Microsoft Office PowerPoint</Application>
  <PresentationFormat>On-screen Show (16:9)</PresentationFormat>
  <Paragraphs>106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AsteRISK — DTCC Gen AI Hackathon 2026</dc:title>
  <dc:subject>PptxGenJS Presentation</dc:subject>
  <dc:creator>PptxGenJS</dc:creator>
  <cp:lastModifiedBy>Dhruvi Pandya</cp:lastModifiedBy>
  <cp:revision>4</cp:revision>
  <dcterms:created xsi:type="dcterms:W3CDTF">2026-02-26T00:13:16Z</dcterms:created>
  <dcterms:modified xsi:type="dcterms:W3CDTF">2026-02-26T15:40:14Z</dcterms:modified>
</cp:coreProperties>
</file>