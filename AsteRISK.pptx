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1" r:id="rId5"/>
    <p:sldId id="263" r:id="rId6"/>
    <p:sldId id="264" r:id="rId7"/>
    <p:sldId id="265" r:id="rId8"/>
    <p:sldId id="262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95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133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2004"/>
            <a:ext cx="9098280" cy="50977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840480" y="32004"/>
            <a:ext cx="54864" cy="509778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9144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Aste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1812175" y="911075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5600" dirty="0"/>
          </a:p>
        </p:txBody>
      </p:sp>
      <p:sp>
        <p:nvSpPr>
          <p:cNvPr id="15" name="Shape 13"/>
          <p:cNvSpPr/>
          <p:nvPr/>
        </p:nvSpPr>
        <p:spPr>
          <a:xfrm>
            <a:off x="731520" y="1783080"/>
            <a:ext cx="2286000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8912" y="18608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Financial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Contagion Risk Simulator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38912" y="3132235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DTCC AI Hackathon  ·  2026</a:t>
            </a:r>
          </a:p>
          <a:p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</a:p>
        </p:txBody>
      </p:sp>
      <p:sp>
        <p:nvSpPr>
          <p:cNvPr id="18" name="Text 16"/>
          <p:cNvSpPr/>
          <p:nvPr/>
        </p:nvSpPr>
        <p:spPr>
          <a:xfrm>
            <a:off x="365760" y="3850871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7A9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Arunava Roy  ·  Atif Hussain  ·  Sibananda Patnaik  ·  Dhruvi Pandya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7A9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7A9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Femi Javia  ·  Harshit Sharma  ·  Pulkit Rajpal  ·  Thorfinn Manison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Solution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765187"/>
            <a:ext cx="8503920" cy="594360"/>
          </a:xfrm>
          <a:prstGeom prst="rect">
            <a:avLst/>
          </a:prstGeom>
          <a:solidFill>
            <a:srgbClr val="EBF0F8"/>
          </a:solidFill>
          <a:ln w="9525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74904" y="76518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/>
              <a:t> </a:t>
            </a:r>
            <a:r>
              <a:rPr lang="en-US" i="1" dirty="0"/>
              <a:t>If a sector or set of counterparties enters distress today, where does the cascade go, how far does it reach, and how fast?</a:t>
            </a:r>
            <a:r>
              <a:rPr lang="en-US" dirty="0"/>
              <a:t> 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783080"/>
            <a:ext cx="27432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1783080"/>
            <a:ext cx="274320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920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77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0292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Interpretation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926080"/>
            <a:ext cx="2194560" cy="2743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301752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translates analyst natural-language queries into structured simulation parameters. 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1783080"/>
            <a:ext cx="27432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46120" y="1783080"/>
            <a:ext cx="2743200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29000" y="1920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42900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Contagion Engine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29000" y="2926080"/>
            <a:ext cx="2194560" cy="2743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29000" y="301752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SIR-based model with correlation-weighted S&amp;P 500 financial network mirrors real market structure.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1783080"/>
            <a:ext cx="27432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72200" y="1783080"/>
            <a:ext cx="2743200" cy="54864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55080" y="1920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B3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35508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Dashboard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55080" y="2926080"/>
            <a:ext cx="2194560" cy="27432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55080" y="301752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D3.js visualization renders contagion cascades in real time with multi-factor risk scoring.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063240" y="3063240"/>
            <a:ext cx="201168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27832" y="3026664"/>
            <a:ext cx="182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860B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989320" y="3063240"/>
            <a:ext cx="201168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53912" y="3026664"/>
            <a:ext cx="182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860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0BA1AC-4673-91A6-4643-80396705CCFB}"/>
              </a:ext>
            </a:extLst>
          </p:cNvPr>
          <p:cNvSpPr txBox="1"/>
          <p:nvPr/>
        </p:nvSpPr>
        <p:spPr>
          <a:xfrm>
            <a:off x="203662" y="1395337"/>
            <a:ext cx="4580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33">
            <a:extLst>
              <a:ext uri="{FF2B5EF4-FFF2-40B4-BE49-F238E27FC236}">
                <a16:creationId xmlns:a16="http://schemas.microsoft.com/office/drawing/2014/main" id="{527229A7-AAEB-4FB4-48F9-4A89B9A55EF9}"/>
              </a:ext>
            </a:extLst>
          </p:cNvPr>
          <p:cNvSpPr/>
          <p:nvPr/>
        </p:nvSpPr>
        <p:spPr>
          <a:xfrm>
            <a:off x="6870467" y="3584864"/>
            <a:ext cx="1907771" cy="88468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33">
            <a:extLst>
              <a:ext uri="{FF2B5EF4-FFF2-40B4-BE49-F238E27FC236}">
                <a16:creationId xmlns:a16="http://schemas.microsoft.com/office/drawing/2014/main" id="{2A36C6F9-CF92-6E58-3146-D94C24B93A03}"/>
              </a:ext>
            </a:extLst>
          </p:cNvPr>
          <p:cNvSpPr/>
          <p:nvPr/>
        </p:nvSpPr>
        <p:spPr>
          <a:xfrm>
            <a:off x="6870468" y="2152269"/>
            <a:ext cx="1907771" cy="88468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Tech Stack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4322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pipeline: LLM → Contagion Engine → React Dashboard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70469" y="467279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70469" y="1850517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70468" y="3250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B3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870469" y="869096"/>
            <a:ext cx="1907771" cy="88468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07629" y="872525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AWS Bedrock AgentCore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07629" y="1146845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Docker + OpenTelemetry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007629" y="1420594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LangGraph Pipeline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07629" y="2133981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Python · LangGraph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007629" y="23774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NetworkX · NumPy · Pandas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07629" y="2641473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SIR Simulation Engine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007629" y="36030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React · TypeScript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007629" y="38415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D3.js · Recharts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995160" y="4085914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TailwindCSS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A8F02999-3C5C-23A3-0AC0-6394BBF8C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44" y="1473992"/>
            <a:ext cx="6408859" cy="23675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Model Performance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market structure, validated simulation mechanics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INPUTS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3840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371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S&amp;P 500 Tickers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645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1-year historical prices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76272"/>
            <a:ext cx="3840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221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2221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Matrix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496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returns, |corr| ≥ 0.6 threshold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026664"/>
            <a:ext cx="3840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30723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Multi-Factor Scoring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33467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· volume · sentiment signals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877056"/>
            <a:ext cx="3840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39227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LLM-Only for NLU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4197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used only for natural language parsing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43400" y="1005840"/>
            <a:ext cx="27432" cy="3749040"/>
          </a:xfrm>
          <a:prstGeom prst="rect">
            <a:avLst/>
          </a:prstGeom>
          <a:solidFill>
            <a:srgbClr val="D0DCF0"/>
          </a:solidFill>
          <a:ln w="12700">
            <a:solidFill>
              <a:srgbClr val="D0DC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80560" y="1005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RESULTS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80560" y="1325880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480560" y="1325880"/>
            <a:ext cx="54864" cy="74980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45152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Multi-Step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16642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Contagion Snapshots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80560" y="217627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480560" y="2176272"/>
            <a:ext cx="54864" cy="74980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645152" y="22219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Intra-Sector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 → Rapid Cluster Spread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80560" y="3026664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480560" y="3026664"/>
            <a:ext cx="54864" cy="749808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45152" y="30723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Firewall Effect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45152" y="33649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threshold blocks propagation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80560" y="3877056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480560" y="3877056"/>
            <a:ext cx="54864" cy="749808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645152" y="39227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 Test Cases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645152" y="4215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validates all simulation mechanics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Limitations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constraints and paths to resolution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8503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051560"/>
            <a:ext cx="64008" cy="1097280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0352" y="11430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≠ Causation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32320" y="1161288"/>
            <a:ext cx="1463040" cy="310896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32320" y="116128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milestone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" y="1554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data would significantly improve accuracy. Correlation is a proxy — direct clearing exposure integration is the next step.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8503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64008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23774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SIR Simplification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32320" y="2395728"/>
            <a:ext cx="1463040" cy="31089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132320" y="239572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" y="2788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SIR model simplifies real financial contagion dynamics. Advanced epidemiological models (SEIR, agent-based) can be layered 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3520440"/>
            <a:ext cx="8503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0040" y="3520440"/>
            <a:ext cx="64008" cy="10972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0352" y="36118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Scope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32320" y="3630168"/>
            <a:ext cx="1463040" cy="31089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32320" y="36301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dataset limited to 25 S&amp;P 500 tickers. Architecture is designed to scale to the full index with minimal refactoring.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-152123"/>
            <a:ext cx="9144000" cy="50977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IMPACT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064924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</a:t>
            </a:r>
            <a:r>
              <a:rPr lang="en-US" sz="3800" dirty="0"/>
              <a:t> 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Predictive</a:t>
            </a:r>
            <a:r>
              <a:rPr lang="en-US" sz="3800" dirty="0"/>
              <a:t> 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365760" y="2523744"/>
            <a:ext cx="2286000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7CB25C-ACBC-9CD0-E55F-D8C7CDDEFB00}"/>
              </a:ext>
            </a:extLst>
          </p:cNvPr>
          <p:cNvSpPr txBox="1"/>
          <p:nvPr/>
        </p:nvSpPr>
        <p:spPr>
          <a:xfrm>
            <a:off x="182880" y="2744447"/>
            <a:ext cx="869511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AI-driven scenario interpretation + deterministic contagion modeling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Real market data + interactive visualization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Helps risk managers see systemic risk before it spreads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web-app deployed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r>
              <a:rPr lang="en-US" sz="1600" dirty="0"/>
              <a:t> </a:t>
            </a:r>
            <a:r>
              <a:rPr lang="en-US" sz="1600" dirty="0" err="1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Replit</a:t>
            </a:r>
            <a:endParaRPr lang="en-US" sz="1600" dirty="0">
              <a:solidFill>
                <a:srgbClr val="A8C0E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design with stateless </a:t>
            </a:r>
            <a:r>
              <a:rPr lang="en-US" sz="1600" dirty="0" err="1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r>
              <a:rPr lang="en-US" sz="16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enables horizontal auto-scaling with zero re-architecture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2004"/>
            <a:ext cx="9144000" cy="640080"/>
          </a:xfrm>
          <a:prstGeom prst="rect">
            <a:avLst/>
          </a:prstGeom>
          <a:solidFill>
            <a:srgbClr val="1E3256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72084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312164"/>
            <a:ext cx="9144000" cy="640080"/>
          </a:xfrm>
          <a:prstGeom prst="rect">
            <a:avLst/>
          </a:prstGeom>
          <a:solidFill>
            <a:srgbClr val="1E3256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1952244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2592324"/>
            <a:ext cx="9144000" cy="640080"/>
          </a:xfrm>
          <a:prstGeom prst="rect">
            <a:avLst/>
          </a:prstGeom>
          <a:solidFill>
            <a:srgbClr val="1E3256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3232404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3872484"/>
            <a:ext cx="9144000" cy="640080"/>
          </a:xfrm>
          <a:prstGeom prst="rect">
            <a:avLst/>
          </a:prstGeom>
          <a:solidFill>
            <a:srgbClr val="1E3256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4512564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7315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AsteRISK</a:t>
            </a:r>
            <a:endParaRPr lang="en-US" sz="6400" dirty="0"/>
          </a:p>
        </p:txBody>
      </p:sp>
      <p:sp>
        <p:nvSpPr>
          <p:cNvPr id="12" name="Shape 10"/>
          <p:cNvSpPr/>
          <p:nvPr/>
        </p:nvSpPr>
        <p:spPr>
          <a:xfrm>
            <a:off x="3200400" y="1737360"/>
            <a:ext cx="2743200" cy="4572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C8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DTCC Gen AI Hackathon 2026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Arunava Roy  ·  Atif Hussain  ·  Sibananda Patnaik  ·  Dhruvi Pandya  ·  Femi Javia  ·  Harshit Sharma  ·  Pulkit Rajpal  ·  Thorfinn Manison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371600" y="3657600"/>
            <a:ext cx="6400800" cy="822960"/>
          </a:xfrm>
          <a:prstGeom prst="rect">
            <a:avLst/>
          </a:prstGeom>
          <a:solidFill>
            <a:srgbClr val="243558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371600" y="3657600"/>
            <a:ext cx="6400800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463040" y="376732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D0E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Transforming stress testing from manual craft to AI-powered, real-time intelligence.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Production &amp; Scalability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architecture designed to grow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353312"/>
            <a:ext cx="3931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" y="1399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☁️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1353312"/>
            <a:ext cx="54864" cy="74980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426464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AWS Bedrock AgentCore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203704"/>
            <a:ext cx="3931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912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20040" y="2203704"/>
            <a:ext cx="54864" cy="74980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276856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DTCC clearing exposure data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3054096"/>
            <a:ext cx="3931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8912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🕸️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20040" y="3054096"/>
            <a:ext cx="54864" cy="749808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312724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full 6-node LangGraph pipeline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904488"/>
            <a:ext cx="3931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8912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20040" y="3904488"/>
            <a:ext cx="54864" cy="749808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397764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WebSocket streaming for real-time dashboards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70832" y="1005840"/>
            <a:ext cx="27432" cy="3749040"/>
          </a:xfrm>
          <a:prstGeom prst="rect">
            <a:avLst/>
          </a:prstGeom>
          <a:solidFill>
            <a:srgbClr val="D0DCF0"/>
          </a:solidFill>
          <a:ln w="12700">
            <a:solidFill>
              <a:srgbClr val="D0DC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80560" y="1005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80560" y="1353312"/>
            <a:ext cx="429768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480560" y="1353312"/>
            <a:ext cx="54864" cy="107899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45152" y="138988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77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⟷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166360" y="13898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Stateless LangGraph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45152" y="17830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design enables horizontal auto-scaling with zero re-architecture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480560" y="2542032"/>
            <a:ext cx="429768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480560" y="2542032"/>
            <a:ext cx="54864" cy="107899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45152" y="25786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∑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166360" y="25786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Extendable Correlation Matrix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645152" y="29718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simulation and correlation matrix are O(n²) – manageable growth to 500 tickers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480560" y="3730752"/>
            <a:ext cx="429768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480560" y="3730752"/>
            <a:ext cx="54864" cy="1078992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45152" y="376732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B3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5166360" y="3767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Scaling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45152" y="416052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and deterministic engine scale independently — cost-efficient growth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603</Words>
  <Application>Microsoft Office PowerPoint</Application>
  <PresentationFormat>On-screen Show (16:9)</PresentationFormat>
  <Paragraphs>120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AsteRISK — DTCC Gen AI Hackathon 2026</dc:title>
  <dc:subject>PptxGenJS Presentation</dc:subject>
  <dc:creator>PptxGenJS</dc:creator>
  <cp:lastModifiedBy>Dhruvi Pandya</cp:lastModifiedBy>
  <cp:revision>4</cp:revision>
  <dcterms:created xsi:type="dcterms:W3CDTF">2026-02-26T00:13:16Z</dcterms:created>
  <dcterms:modified xsi:type="dcterms:W3CDTF">2026-02-26T15:24:53Z</dcterms:modified>
</cp:coreProperties>
</file>