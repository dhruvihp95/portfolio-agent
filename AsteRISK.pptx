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6" d="100"/>
          <a:sy n="66" d="100"/>
        </p:scale>
        <p:origin x="833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71331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32004"/>
            <a:ext cx="3840480" cy="509778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840480" y="32004"/>
            <a:ext cx="54864" cy="5097780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023360" y="32004"/>
            <a:ext cx="5074920" cy="640080"/>
          </a:xfrm>
          <a:prstGeom prst="rect">
            <a:avLst/>
          </a:prstGeom>
          <a:solidFill>
            <a:srgbClr val="EEF3FA"/>
          </a:solidFill>
          <a:ln w="12700">
            <a:solidFill>
              <a:srgbClr val="F5F7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023360" y="672084"/>
            <a:ext cx="5074920" cy="64008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023360" y="1312164"/>
            <a:ext cx="5074920" cy="640080"/>
          </a:xfrm>
          <a:prstGeom prst="rect">
            <a:avLst/>
          </a:prstGeom>
          <a:solidFill>
            <a:srgbClr val="EEF3FA"/>
          </a:solidFill>
          <a:ln w="12700">
            <a:solidFill>
              <a:srgbClr val="F5F7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023360" y="1952244"/>
            <a:ext cx="5074920" cy="64008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023360" y="2592324"/>
            <a:ext cx="5074920" cy="640080"/>
          </a:xfrm>
          <a:prstGeom prst="rect">
            <a:avLst/>
          </a:prstGeom>
          <a:solidFill>
            <a:srgbClr val="EEF3FA"/>
          </a:solidFill>
          <a:ln w="12700">
            <a:solidFill>
              <a:srgbClr val="F5F7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023360" y="3232404"/>
            <a:ext cx="5074920" cy="64008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023360" y="3872484"/>
            <a:ext cx="5074920" cy="640080"/>
          </a:xfrm>
          <a:prstGeom prst="rect">
            <a:avLst/>
          </a:prstGeom>
          <a:solidFill>
            <a:srgbClr val="EEF3FA"/>
          </a:solidFill>
          <a:ln w="12700">
            <a:solidFill>
              <a:srgbClr val="F5F7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023360" y="4512564"/>
            <a:ext cx="5074920" cy="64008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65760" y="9144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Aste</a:t>
            </a:r>
            <a:endParaRPr lang="en-US" sz="5600" dirty="0"/>
          </a:p>
        </p:txBody>
      </p:sp>
      <p:sp>
        <p:nvSpPr>
          <p:cNvPr id="14" name="Text 12"/>
          <p:cNvSpPr/>
          <p:nvPr/>
        </p:nvSpPr>
        <p:spPr>
          <a:xfrm>
            <a:off x="1812175" y="911075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600" b="1" dirty="0">
                <a:solidFill>
                  <a:srgbClr val="B88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</a:t>
            </a:r>
            <a:endParaRPr lang="en-US" sz="5600" dirty="0"/>
          </a:p>
        </p:txBody>
      </p:sp>
      <p:sp>
        <p:nvSpPr>
          <p:cNvPr id="15" name="Shape 13"/>
          <p:cNvSpPr/>
          <p:nvPr/>
        </p:nvSpPr>
        <p:spPr>
          <a:xfrm>
            <a:off x="731520" y="1783080"/>
            <a:ext cx="2286000" cy="3657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38912" y="1860804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C8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Financial</a:t>
            </a:r>
            <a:endParaRPr lang="en-US" dirty="0"/>
          </a:p>
          <a:p>
            <a:pPr marL="0" indent="0" algn="l">
              <a:buNone/>
            </a:pPr>
            <a:r>
              <a:rPr lang="en-US" dirty="0">
                <a:solidFill>
                  <a:srgbClr val="C8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Contagion Risk Simulator</a:t>
            </a: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38912" y="2749435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0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DTCC AI Hackathon  ·  2026</a:t>
            </a:r>
          </a:p>
          <a:p>
            <a:r>
              <a:rPr lang="en-US" sz="1400" dirty="0">
                <a:solidFill>
                  <a:srgbClr val="0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</a:t>
            </a:r>
            <a:r>
              <a:rPr lang="en-US" sz="1400" dirty="0"/>
              <a:t> </a:t>
            </a:r>
            <a:r>
              <a:rPr lang="en-US" sz="1400" dirty="0">
                <a:solidFill>
                  <a:srgbClr val="0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r>
              <a:rPr lang="en-US" sz="1400" dirty="0"/>
              <a:t> </a:t>
            </a:r>
            <a:r>
              <a:rPr lang="en-US" sz="1400" dirty="0">
                <a:solidFill>
                  <a:srgbClr val="0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</a:t>
            </a:r>
            <a:r>
              <a:rPr lang="en-US" sz="1400" dirty="0"/>
              <a:t> </a:t>
            </a:r>
            <a:r>
              <a:rPr lang="en-US" sz="1400" dirty="0">
                <a:solidFill>
                  <a:srgbClr val="0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</a:t>
            </a:r>
          </a:p>
        </p:txBody>
      </p:sp>
      <p:sp>
        <p:nvSpPr>
          <p:cNvPr id="18" name="Text 16"/>
          <p:cNvSpPr/>
          <p:nvPr/>
        </p:nvSpPr>
        <p:spPr>
          <a:xfrm>
            <a:off x="365760" y="3850871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7A9A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Arunava Roy  ·  Atif Hussain  ·  Sibananda Patnaik  ·  Dhruvi Pandya</a:t>
            </a:r>
            <a:r>
              <a:rPr lang="en-US" sz="1200" dirty="0"/>
              <a:t> </a:t>
            </a:r>
            <a:r>
              <a:rPr lang="en-US" sz="1200" dirty="0">
                <a:solidFill>
                  <a:srgbClr val="7A9A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1200" dirty="0"/>
              <a:t> </a:t>
            </a:r>
            <a:r>
              <a:rPr lang="en-US" sz="1200" dirty="0">
                <a:solidFill>
                  <a:srgbClr val="7A9A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Femi Javia  ·  Harshit Sharma  ·  Pulkit Rajpal  ·  Thorfinn Manison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297680" y="731520"/>
            <a:ext cx="448056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297680" y="731520"/>
            <a:ext cx="64008" cy="109728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498848" y="86868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 Factor Risk Scoring</a:t>
            </a:r>
          </a:p>
        </p:txBody>
      </p:sp>
      <p:sp>
        <p:nvSpPr>
          <p:cNvPr id="22" name="Text 20"/>
          <p:cNvSpPr/>
          <p:nvPr/>
        </p:nvSpPr>
        <p:spPr>
          <a:xfrm>
            <a:off x="4498848" y="13716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Real S&amp;P Tickers with Price, Volume &amp; Sentiment</a:t>
            </a:r>
          </a:p>
        </p:txBody>
      </p:sp>
      <p:sp>
        <p:nvSpPr>
          <p:cNvPr id="23" name="Shape 21"/>
          <p:cNvSpPr/>
          <p:nvPr/>
        </p:nvSpPr>
        <p:spPr>
          <a:xfrm>
            <a:off x="4297680" y="2103120"/>
            <a:ext cx="448056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297680" y="2103120"/>
            <a:ext cx="64008" cy="1097280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498848" y="224028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SIR Model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4498848" y="27432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Engine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297680" y="3474720"/>
            <a:ext cx="448056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297680" y="3474720"/>
            <a:ext cx="64008" cy="1097280"/>
          </a:xfrm>
          <a:prstGeom prst="rect">
            <a:avLst/>
          </a:prstGeom>
          <a:solidFill>
            <a:srgbClr val="5B3E8A"/>
          </a:solidFill>
          <a:ln w="12700">
            <a:solidFill>
              <a:srgbClr val="5B3E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498848" y="361188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 AI</a:t>
            </a:r>
            <a:endParaRPr lang="en-US" sz="2800" dirty="0"/>
          </a:p>
        </p:txBody>
      </p:sp>
      <p:sp>
        <p:nvSpPr>
          <p:cNvPr id="30" name="Text 28"/>
          <p:cNvSpPr/>
          <p:nvPr/>
        </p:nvSpPr>
        <p:spPr>
          <a:xfrm>
            <a:off x="4498848" y="41148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Interpretation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2E9F4"/>
          </a:solidFill>
          <a:ln w="12700">
            <a:solidFill>
              <a:srgbClr val="E2E9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365760" y="4901184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AsteRISK  |  DTCC Gen AI Hackathon 2026  |  Confidential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0" y="5129784"/>
            <a:ext cx="9144000" cy="1371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320040" y="182880"/>
            <a:ext cx="54864" cy="457200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6583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7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financial contagion demand a new approach?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051560"/>
            <a:ext cx="42062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20040" y="1051560"/>
            <a:ext cx="54864" cy="16916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84632" y="116128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 to Model in Real Time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84632" y="1527048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contagion remains notoriously difficult to model and predict before cascades occur.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42062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754880" y="1051560"/>
            <a:ext cx="54864" cy="1691640"/>
          </a:xfrm>
          <a:prstGeom prst="rect">
            <a:avLst/>
          </a:prstGeom>
          <a:solidFill>
            <a:srgbClr val="C46A00"/>
          </a:solidFill>
          <a:ln w="12700">
            <a:solidFill>
              <a:srgbClr val="C46A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919472" y="116128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Managers Lack Foresight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19472" y="1527048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easily predict how shocks propagate across sectors until damage is done.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" y="2880360"/>
            <a:ext cx="42062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20040" y="2880360"/>
            <a:ext cx="54864" cy="1691640"/>
          </a:xfrm>
          <a:prstGeom prst="rect">
            <a:avLst/>
          </a:prstGeom>
          <a:solidFill>
            <a:srgbClr val="5B3E8A"/>
          </a:solidFill>
          <a:ln w="12700">
            <a:solidFill>
              <a:srgbClr val="5B3E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84632" y="299008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Stress Scenarios Are Manual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84632" y="3355848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Scenarios are manually crafted and lag fast-moving conditions, creating dangerous blind spots.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754880" y="2880360"/>
            <a:ext cx="42062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754880" y="2880360"/>
            <a:ext cx="54864" cy="169164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919472" y="299008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Systemic ≠ Individual Defaults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919472" y="3355848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Interconnectedness drives systemic failure — individual defaults are insufficient signals.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2E9F4"/>
          </a:solidFill>
          <a:ln w="12700">
            <a:solidFill>
              <a:srgbClr val="E2E9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65760" y="4901184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AsteRISK  |  DTCC Gen AI Hackathon 2026  |  Confidential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0" y="5129784"/>
            <a:ext cx="9144000" cy="1371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320040" y="182880"/>
            <a:ext cx="54864" cy="457200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 &amp; Approach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6583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7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AsteRISK — Three-layer intelligent risk architecture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005840"/>
            <a:ext cx="8503920" cy="594360"/>
          </a:xfrm>
          <a:prstGeom prst="rect">
            <a:avLst/>
          </a:prstGeom>
          <a:solidFill>
            <a:srgbClr val="EBF0F8"/>
          </a:solidFill>
          <a:ln w="9525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10241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C3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Transforms natural-language stress scenarios into real-time, interactive contagion simulations across S&amp;P 500 networks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783080"/>
            <a:ext cx="27432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20040" y="1783080"/>
            <a:ext cx="2743200" cy="54864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2920" y="19202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77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502920" y="24231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Interpretation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" y="2926080"/>
            <a:ext cx="2194560" cy="27432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02920" y="3017520"/>
            <a:ext cx="2423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 translates analyst natural-language queries into structured simulation parameters. 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246120" y="1783080"/>
            <a:ext cx="27432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246120" y="1783080"/>
            <a:ext cx="2743200" cy="54864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429000" y="19202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B88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3429000" y="24231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Contagion Engine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429000" y="2926080"/>
            <a:ext cx="2194560" cy="27432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429000" y="3017520"/>
            <a:ext cx="2423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SIR-based model with correlation-weighted S&amp;P 500 financial network mirrors real market structure.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72200" y="1783080"/>
            <a:ext cx="27432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172200" y="1783080"/>
            <a:ext cx="2743200" cy="54864"/>
          </a:xfrm>
          <a:prstGeom prst="rect">
            <a:avLst/>
          </a:prstGeom>
          <a:solidFill>
            <a:srgbClr val="5B3E8A"/>
          </a:solidFill>
          <a:ln w="12700">
            <a:solidFill>
              <a:srgbClr val="5B3E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355080" y="19202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5B3E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6355080" y="24231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Interactive Dashboard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355080" y="2926080"/>
            <a:ext cx="2194560" cy="27432"/>
          </a:xfrm>
          <a:prstGeom prst="rect">
            <a:avLst/>
          </a:prstGeom>
          <a:solidFill>
            <a:srgbClr val="5B3E8A"/>
          </a:solidFill>
          <a:ln w="12700">
            <a:solidFill>
              <a:srgbClr val="5B3E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355080" y="3017520"/>
            <a:ext cx="2423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D3.js visualization renders contagion cascades in real time with multi-factor risk scoring.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063240" y="3063240"/>
            <a:ext cx="201168" cy="3657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227832" y="3026664"/>
            <a:ext cx="1828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B8860B"/>
                </a:solidFill>
              </a:rPr>
              <a:t>▶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5989320" y="3063240"/>
            <a:ext cx="201168" cy="3657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153912" y="3026664"/>
            <a:ext cx="1828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B8860B"/>
                </a:solidFill>
              </a:rPr>
              <a:t>▶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2E9F4"/>
          </a:solidFill>
          <a:ln w="12700">
            <a:solidFill>
              <a:srgbClr val="E2E9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65760" y="4901184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AsteRISK  |  DTCC Gen AI Hackathon 2026  |  Confidential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0" y="5129784"/>
            <a:ext cx="9144000" cy="1371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320040" y="182880"/>
            <a:ext cx="54864" cy="457200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Features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6583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7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AsteRISK different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005840"/>
            <a:ext cx="263347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20040" y="1005840"/>
            <a:ext cx="54864" cy="155448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111556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🧠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78408" y="111556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Language Input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1600200"/>
            <a:ext cx="2450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Analysts describe stress scenarios in plain English — LLM extracts shock parameters automatically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182112" y="1005840"/>
            <a:ext cx="263347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182112" y="1005840"/>
            <a:ext cx="54864" cy="1554480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319272" y="111556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⚙️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840480" y="111556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SIR Contagion Engine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19272" y="1600200"/>
            <a:ext cx="2450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&amp; stochastic modes; correlation-weighted network with configurable thresholds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44184" y="1005840"/>
            <a:ext cx="263347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044184" y="1005840"/>
            <a:ext cx="54864" cy="1554480"/>
          </a:xfrm>
          <a:prstGeom prst="rect">
            <a:avLst/>
          </a:prstGeom>
          <a:solidFill>
            <a:srgbClr val="5B3E8A"/>
          </a:solidFill>
          <a:ln w="12700">
            <a:solidFill>
              <a:srgbClr val="5B3E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181344" y="111556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702552" y="111556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Multi-Factor Risk Scoring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181344" y="1600200"/>
            <a:ext cx="2450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Price, volume &amp; sentiment signals combine into unified systemic risk score per ticker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20040" y="2651760"/>
            <a:ext cx="263347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20040" y="2651760"/>
            <a:ext cx="54864" cy="1554480"/>
          </a:xfrm>
          <a:prstGeom prst="rect">
            <a:avLst/>
          </a:prstGeom>
          <a:solidFill>
            <a:srgbClr val="C46A00"/>
          </a:solidFill>
          <a:ln w="12700">
            <a:solidFill>
              <a:srgbClr val="C46A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7200" y="276148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🕸️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18972" y="277562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Real-Time D3 Visualization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3246120"/>
            <a:ext cx="2450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network graph shows cascade propagation frame by frame across all 25 tickers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182112" y="2651760"/>
            <a:ext cx="263347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3182112" y="2651760"/>
            <a:ext cx="54864" cy="155448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319272" y="276148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⏩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3840480" y="276148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Step-Through Simulator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319272" y="3246120"/>
            <a:ext cx="2450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Analysts control simulation speed, rewind steps, and freeze contagion at any timestep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044184" y="2651760"/>
            <a:ext cx="263347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6044184" y="2651760"/>
            <a:ext cx="54864" cy="1554480"/>
          </a:xfrm>
          <a:prstGeom prst="rect">
            <a:avLst/>
          </a:prstGeom>
          <a:solidFill>
            <a:srgbClr val="1A7A4A"/>
          </a:solidFill>
          <a:ln w="1270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181344" y="276148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🚀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6702552" y="276148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Production-Ready Stack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181344" y="3246120"/>
            <a:ext cx="2450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Containerized on Docker, Observable on OpenTelemetry, deployable to AWS Bedrock AgentCore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2E9F4"/>
          </a:solidFill>
          <a:ln w="12700">
            <a:solidFill>
              <a:srgbClr val="E2E9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365760" y="4901184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AsteRISK  |  DTCC Gen AI Hackathon 2026  |  Confidential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0" y="5129784"/>
            <a:ext cx="9144000" cy="1371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320040" y="182880"/>
            <a:ext cx="54864" cy="457200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&amp; Tech Stack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6583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7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Three-layer pipeline: LLM → Contagion Engine → React Dashboard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005840"/>
            <a:ext cx="192024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20040" y="1005840"/>
            <a:ext cx="1920240" cy="59436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05840" y="1143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411480" y="1737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 INPUT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2176272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07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Language Query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258568" y="1929384"/>
            <a:ext cx="384048" cy="3657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587752" y="1892808"/>
            <a:ext cx="1097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B8860B"/>
                </a:solidFill>
              </a:rPr>
              <a:t>▶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377440" y="1005840"/>
            <a:ext cx="192024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377440" y="1005840"/>
            <a:ext cx="1920240" cy="5943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063240" y="1143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🤖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2468880" y="1737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LAYER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468880" y="2176272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 / LangGraph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315968" y="1929384"/>
            <a:ext cx="384048" cy="3657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645152" y="1892808"/>
            <a:ext cx="1097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B8860B"/>
                </a:solidFill>
              </a:rPr>
              <a:t>▶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434840" y="1005840"/>
            <a:ext cx="192024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434840" y="1005840"/>
            <a:ext cx="1920240" cy="59436"/>
          </a:xfrm>
          <a:prstGeom prst="rect">
            <a:avLst/>
          </a:prstGeom>
          <a:solidFill>
            <a:srgbClr val="5B3E8A"/>
          </a:solidFill>
          <a:ln w="12700">
            <a:solidFill>
              <a:srgbClr val="5B3E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120640" y="1143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⚙️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4526280" y="1737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CONTAGION ENGINE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26280" y="2176272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B3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 + NetworkX + NumPy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373368" y="1929384"/>
            <a:ext cx="384048" cy="3657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702552" y="1892808"/>
            <a:ext cx="1097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B8860B"/>
                </a:solidFill>
              </a:rPr>
              <a:t>▶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6492240" y="1005840"/>
            <a:ext cx="192024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6492240" y="1005840"/>
            <a:ext cx="1920240" cy="59436"/>
          </a:xfrm>
          <a:prstGeom prst="rect">
            <a:avLst/>
          </a:prstGeom>
          <a:solidFill>
            <a:srgbClr val="C46A00"/>
          </a:solidFill>
          <a:ln w="12700">
            <a:solidFill>
              <a:srgbClr val="C46A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7178040" y="1143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📊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6583680" y="1737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VISUALIZATION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583680" y="2176272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C4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D3.js + TypeScript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320040" y="3108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108960" y="31089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07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486400" y="31089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5B3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20040" y="3401568"/>
            <a:ext cx="26060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84632" y="354787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AWS Bedrock AgentCore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84632" y="3895344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Docker + OpenTelemetry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84632" y="4242816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LangGraph Pipeline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3108960" y="3401568"/>
            <a:ext cx="26060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3273552" y="354787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Python · LangGraph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273552" y="3895344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NetworkX · NumPy · Pandas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273552" y="4242816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SIR Simulation Engine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486400" y="3401568"/>
            <a:ext cx="26060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5650992" y="354787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React · TypeScript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650992" y="3895344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D3.js · Recharts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650992" y="4242816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TailwindCSS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2E9F4"/>
          </a:solidFill>
          <a:ln w="12700">
            <a:solidFill>
              <a:srgbClr val="E2E9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365760" y="4901184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AsteRISK  |  DTCC Gen AI Hackathon 2026  |  Confidential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0" y="5129784"/>
            <a:ext cx="9144000" cy="1371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320040" y="182880"/>
            <a:ext cx="54864" cy="457200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&amp; Model Performance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6583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7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market structure, validated simulation mechanics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20040" y="10058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INPUTS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0040" y="1325880"/>
            <a:ext cx="38404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📈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13716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 S&amp;P 500 Tickers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" y="16459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1-year historical prices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176272"/>
            <a:ext cx="38404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" y="22219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05840" y="22219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Correlation Matrix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05840" y="249631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returns, |corr| ≥ 0.6 threshold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0040" y="3026664"/>
            <a:ext cx="38404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7200" y="30723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05840" y="307238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Multi-Factor Scoring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05840" y="334670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· volume · sentiment signals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" y="3877056"/>
            <a:ext cx="38404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57200" y="39227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🤖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05840" y="39227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LLM-Only for NLU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05840" y="41970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used only for natural language parsing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43400" y="1005840"/>
            <a:ext cx="27432" cy="3749040"/>
          </a:xfrm>
          <a:prstGeom prst="rect">
            <a:avLst/>
          </a:prstGeom>
          <a:solidFill>
            <a:srgbClr val="D0DCF0"/>
          </a:solidFill>
          <a:ln w="12700">
            <a:solidFill>
              <a:srgbClr val="D0DC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480560" y="10058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07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RESULTS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480560" y="1325880"/>
            <a:ext cx="42976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480560" y="1325880"/>
            <a:ext cx="54864" cy="749808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645152" y="13716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Multi-Step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166420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Contagion Snapshots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480560" y="2176272"/>
            <a:ext cx="42976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480560" y="2176272"/>
            <a:ext cx="54864" cy="749808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645152" y="222199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 Intra-Sector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645152" y="25146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Correlations → Rapid Cluster Spread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480560" y="3026664"/>
            <a:ext cx="42976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480560" y="3026664"/>
            <a:ext cx="54864" cy="749808"/>
          </a:xfrm>
          <a:prstGeom prst="rect">
            <a:avLst/>
          </a:prstGeom>
          <a:solidFill>
            <a:srgbClr val="5B3E8A"/>
          </a:solidFill>
          <a:ln w="12700">
            <a:solidFill>
              <a:srgbClr val="5B3E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645152" y="307238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Firewall Effect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645152" y="336499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threshold blocks propagation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480560" y="3877056"/>
            <a:ext cx="42976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4480560" y="3877056"/>
            <a:ext cx="54864" cy="749808"/>
          </a:xfrm>
          <a:prstGeom prst="rect">
            <a:avLst/>
          </a:prstGeom>
          <a:solidFill>
            <a:srgbClr val="1A7A4A"/>
          </a:solidFill>
          <a:ln w="1270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4645152" y="392277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30+ Test Cases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4645152" y="421538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validates all simulation mechanics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2E9F4"/>
          </a:solidFill>
          <a:ln w="12700">
            <a:solidFill>
              <a:srgbClr val="E2E9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365760" y="4901184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AsteRISK  |  DTCC Gen AI Hackathon 2026  |  Confidential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0" y="5129784"/>
            <a:ext cx="9144000" cy="1371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320040" y="182880"/>
            <a:ext cx="54864" cy="457200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 to Production &amp; Scalability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6583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7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Enterprise-grade architecture designed to grow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20040" y="10058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TO PRODUCTION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0040" y="1353312"/>
            <a:ext cx="393192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38912" y="1399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☁️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20040" y="1353312"/>
            <a:ext cx="54864" cy="749808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14400" y="1426464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AWS Bedrock AgentCore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" y="2203704"/>
            <a:ext cx="393192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38912" y="22494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20040" y="2203704"/>
            <a:ext cx="54864" cy="749808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14400" y="2276856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DTCC clearing exposure data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20040" y="3054096"/>
            <a:ext cx="393192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38912" y="30998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🕸️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320040" y="3054096"/>
            <a:ext cx="54864" cy="749808"/>
          </a:xfrm>
          <a:prstGeom prst="rect">
            <a:avLst/>
          </a:prstGeom>
          <a:solidFill>
            <a:srgbClr val="5B3E8A"/>
          </a:solidFill>
          <a:ln w="12700">
            <a:solidFill>
              <a:srgbClr val="5B3E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914400" y="3127248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full 6-node LangGraph pipeline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20040" y="3904488"/>
            <a:ext cx="393192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38912" y="3950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📡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320040" y="3904488"/>
            <a:ext cx="54864" cy="749808"/>
          </a:xfrm>
          <a:prstGeom prst="rect">
            <a:avLst/>
          </a:prstGeom>
          <a:solidFill>
            <a:srgbClr val="C46A00"/>
          </a:solidFill>
          <a:ln w="12700">
            <a:solidFill>
              <a:srgbClr val="C46A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914400" y="3977640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WebSocket streaming for real-time dashboards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70832" y="1005840"/>
            <a:ext cx="27432" cy="3749040"/>
          </a:xfrm>
          <a:prstGeom prst="rect">
            <a:avLst/>
          </a:prstGeom>
          <a:solidFill>
            <a:srgbClr val="D0DCF0"/>
          </a:solidFill>
          <a:ln w="12700">
            <a:solidFill>
              <a:srgbClr val="D0DC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480560" y="10058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07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480560" y="1353312"/>
            <a:ext cx="429768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480560" y="1353312"/>
            <a:ext cx="54864" cy="1078992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645152" y="138988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77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⟷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5166360" y="138988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Stateless LangGraph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645152" y="178308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design enables horizontal auto-scaling with zero re-architecture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480560" y="2542032"/>
            <a:ext cx="429768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480560" y="2542032"/>
            <a:ext cx="54864" cy="1078992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645152" y="257860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88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∑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5166360" y="257860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Extendable Correlation Matrix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645152" y="297180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 simulation and correlation matrix are O(n²) – manageable growth to 500 tickers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480560" y="3730752"/>
            <a:ext cx="429768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4480560" y="3730752"/>
            <a:ext cx="54864" cy="1078992"/>
          </a:xfrm>
          <a:prstGeom prst="rect">
            <a:avLst/>
          </a:prstGeom>
          <a:solidFill>
            <a:srgbClr val="5B3E8A"/>
          </a:solidFill>
          <a:ln w="12700">
            <a:solidFill>
              <a:srgbClr val="5B3E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645152" y="376732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5B3E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⚡</a:t>
            </a:r>
            <a:endParaRPr lang="en-US" sz="2400" dirty="0"/>
          </a:p>
        </p:txBody>
      </p:sp>
      <p:sp>
        <p:nvSpPr>
          <p:cNvPr id="38" name="Text 36"/>
          <p:cNvSpPr/>
          <p:nvPr/>
        </p:nvSpPr>
        <p:spPr>
          <a:xfrm>
            <a:off x="5166360" y="37673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Independent Scaling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4645152" y="416052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and deterministic engine scale independently — cost-efficient growth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2E9F4"/>
          </a:solidFill>
          <a:ln w="12700">
            <a:solidFill>
              <a:srgbClr val="E2E9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365760" y="4901184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AsteRISK  |  DTCC Gen AI Hackathon 2026  |  Confidential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0" y="5129784"/>
            <a:ext cx="9144000" cy="1371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320040" y="182880"/>
            <a:ext cx="54864" cy="457200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&amp; Limitations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6583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7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constraints and paths to resolution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051560"/>
            <a:ext cx="850392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20040" y="1051560"/>
            <a:ext cx="64008" cy="1097280"/>
          </a:xfrm>
          <a:prstGeom prst="rect">
            <a:avLst/>
          </a:prstGeom>
          <a:solidFill>
            <a:srgbClr val="C46A00"/>
          </a:solidFill>
          <a:ln w="12700">
            <a:solidFill>
              <a:srgbClr val="C46A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30352" y="114300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Correlation ≠ Causation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132320" y="1161288"/>
            <a:ext cx="1463040" cy="310896"/>
          </a:xfrm>
          <a:prstGeom prst="rect">
            <a:avLst/>
          </a:prstGeom>
          <a:solidFill>
            <a:srgbClr val="C46A00"/>
          </a:solidFill>
          <a:ln w="12700">
            <a:solidFill>
              <a:srgbClr val="C46A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132320" y="116128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milestone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30352" y="15544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Exposure data would significantly improve accuracy. Correlation is a proxy — direct clearing exposure integration is the next step.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" y="2286000"/>
            <a:ext cx="850392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20040" y="2286000"/>
            <a:ext cx="64008" cy="109728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30352" y="237744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SIR Simplification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132320" y="2395728"/>
            <a:ext cx="1463040" cy="31089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132320" y="239572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30352" y="27889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SIR model simplifies real financial contagion dynamics. Advanced epidemiological models (SEIR, agent-based) can be layered in.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20040" y="3520440"/>
            <a:ext cx="850392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320040" y="3520440"/>
            <a:ext cx="64008" cy="109728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30352" y="361188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Scope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132320" y="3630168"/>
            <a:ext cx="1463040" cy="310896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132320" y="363016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Scalable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30352" y="40233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dataset limited to 25 S&amp;P 500 tickers. Architecture is designed to scale to the full index with minimal refactoring.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2E9F4"/>
          </a:solidFill>
          <a:ln w="12700">
            <a:solidFill>
              <a:srgbClr val="E2E9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65760" y="4901184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AsteRISK  |  DTCC Gen AI Hackathon 2026  |  Confidential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0" y="5129784"/>
            <a:ext cx="9144000" cy="1371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32004"/>
            <a:ext cx="9144000" cy="509778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IMPACT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914400"/>
            <a:ext cx="8412480" cy="1657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</a:t>
            </a:r>
            <a:r>
              <a:rPr lang="en-US" sz="3800" dirty="0"/>
              <a:t> </a:t>
            </a: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Reactive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Predictive</a:t>
            </a:r>
            <a:r>
              <a:rPr lang="en-US" sz="3800" dirty="0"/>
              <a:t> </a:t>
            </a: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365760" y="2523744"/>
            <a:ext cx="2286000" cy="3657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65760" y="3154680"/>
            <a:ext cx="46135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AI-driven interpretation + deterministic contagion modeling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353872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Real market data + interactive visualization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" y="3922776"/>
            <a:ext cx="4438996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Helps risk managers see systemic risk before it spreads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2E9F4"/>
          </a:solidFill>
          <a:ln w="12700">
            <a:solidFill>
              <a:srgbClr val="E2E9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65760" y="4901184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AsteRISK  |  DTCC Gen AI Hackathon 2026  |  Confidential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0" y="5129784"/>
            <a:ext cx="9144000" cy="1371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32004"/>
            <a:ext cx="9144000" cy="640080"/>
          </a:xfrm>
          <a:prstGeom prst="rect">
            <a:avLst/>
          </a:prstGeom>
          <a:solidFill>
            <a:srgbClr val="1E3256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72084"/>
            <a:ext cx="9144000" cy="64008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1312164"/>
            <a:ext cx="9144000" cy="640080"/>
          </a:xfrm>
          <a:prstGeom prst="rect">
            <a:avLst/>
          </a:prstGeom>
          <a:solidFill>
            <a:srgbClr val="1E3256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1952244"/>
            <a:ext cx="9144000" cy="64008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2592324"/>
            <a:ext cx="9144000" cy="640080"/>
          </a:xfrm>
          <a:prstGeom prst="rect">
            <a:avLst/>
          </a:prstGeom>
          <a:solidFill>
            <a:srgbClr val="1E3256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0" y="3232404"/>
            <a:ext cx="9144000" cy="64008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0" y="3872484"/>
            <a:ext cx="9144000" cy="640080"/>
          </a:xfrm>
          <a:prstGeom prst="rect">
            <a:avLst/>
          </a:prstGeom>
          <a:solidFill>
            <a:srgbClr val="1E3256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0" y="4512564"/>
            <a:ext cx="9144000" cy="64008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14400" y="7315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AsteRISK</a:t>
            </a:r>
            <a:endParaRPr lang="en-US" sz="6400" dirty="0"/>
          </a:p>
        </p:txBody>
      </p:sp>
      <p:sp>
        <p:nvSpPr>
          <p:cNvPr id="12" name="Shape 10"/>
          <p:cNvSpPr/>
          <p:nvPr/>
        </p:nvSpPr>
        <p:spPr>
          <a:xfrm>
            <a:off x="3200400" y="1737360"/>
            <a:ext cx="2743200" cy="45720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14400" y="18288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5BC8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 &amp; Discussion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14400" y="2468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DTCC Gen AI Hackathon 2026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3017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Arunava Roy  ·  Atif Hussain  ·  Sibananda Patnaik  ·  Dhruvi Pandya  ·  Femi Javia  ·  Harshit Sharma  ·  Pulkit Rajpal  ·  Thorfinn Manison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371600" y="3657600"/>
            <a:ext cx="6400800" cy="822960"/>
          </a:xfrm>
          <a:prstGeom prst="rect">
            <a:avLst/>
          </a:prstGeom>
          <a:solidFill>
            <a:srgbClr val="243558"/>
          </a:solidFill>
          <a:ln w="9525">
            <a:solidFill>
              <a:srgbClr val="D0DCF0"/>
            </a:solidFill>
            <a:prstDash val="solid"/>
          </a:ln>
          <a:effectLst>
            <a:outerShdw blurRad="101600" dist="25400" dir="8100000" algn="bl" rotWithShape="0">
              <a:srgbClr val="4A608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371600" y="3657600"/>
            <a:ext cx="6400800" cy="54864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463040" y="3767328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D0E4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Transforming stress testing from manual craft to AI-powered, real-time intelligence.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2E9F4"/>
          </a:solidFill>
          <a:ln w="12700">
            <a:solidFill>
              <a:srgbClr val="E2E9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65760" y="4901184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AsteRISK  |  DTCC Gen AI Hackathon 2026  |  Confidential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0" y="5129784"/>
            <a:ext cx="9144000" cy="1371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841</Words>
  <Application>Microsoft Office PowerPoint</Application>
  <PresentationFormat>On-screen Show (16:9)</PresentationFormat>
  <Paragraphs>173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AsteRISK — DTCC Gen AI Hackathon 2026</dc:title>
  <dc:subject>PptxGenJS Presentation</dc:subject>
  <dc:creator>PptxGenJS</dc:creator>
  <cp:lastModifiedBy>Dhruvi Pandya</cp:lastModifiedBy>
  <cp:revision>3</cp:revision>
  <dcterms:created xsi:type="dcterms:W3CDTF">2026-02-26T00:13:16Z</dcterms:created>
  <dcterms:modified xsi:type="dcterms:W3CDTF">2026-02-26T00:36:46Z</dcterms:modified>
</cp:coreProperties>
</file>